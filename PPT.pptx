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257" r:id="rId4"/>
    <p:sldId id="266" r:id="rId5"/>
    <p:sldId id="268" r:id="rId6"/>
    <p:sldId id="258" r:id="rId7"/>
    <p:sldId id="259" r:id="rId8"/>
    <p:sldId id="260" r:id="rId9"/>
    <p:sldId id="261" r:id="rId10"/>
    <p:sldId id="262" r:id="rId11"/>
    <p:sldId id="263" r:id="rId12"/>
    <p:sldId id="269" r:id="rId13"/>
    <p:sldId id="264" r:id="rId14"/>
    <p:sldId id="270" r:id="rId15"/>
    <p:sldId id="271" r:id="rId16"/>
    <p:sldId id="265" r:id="rId17"/>
  </p:sldIdLst>
  <p:sldSz cx="9753600" cy="7315200"/>
  <p:notesSz cx="97536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jP3zEIWZyCYabOvA+uP1BT6mGl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598" y="4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25925" y="548625"/>
            <a:ext cx="6502725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9ac01966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19ac019662_0_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3000" cy="3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ubTitle" idx="1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0"/>
            <a:ext cx="9752965" cy="894080"/>
          </a:xfrm>
          <a:custGeom>
            <a:avLst/>
            <a:gdLst/>
            <a:ahLst/>
            <a:cxnLst/>
            <a:rect l="l" t="t" r="r" b="b"/>
            <a:pathLst>
              <a:path w="9752965" h="894080" extrusionOk="0">
                <a:moveTo>
                  <a:pt x="9752456" y="893567"/>
                </a:moveTo>
                <a:lnTo>
                  <a:pt x="0" y="893567"/>
                </a:lnTo>
                <a:lnTo>
                  <a:pt x="0" y="0"/>
                </a:lnTo>
                <a:lnTo>
                  <a:pt x="9752456" y="0"/>
                </a:lnTo>
                <a:lnTo>
                  <a:pt x="9752456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8"/>
          <p:cNvSpPr/>
          <p:nvPr/>
        </p:nvSpPr>
        <p:spPr>
          <a:xfrm>
            <a:off x="0" y="7151615"/>
            <a:ext cx="9753600" cy="163830"/>
          </a:xfrm>
          <a:custGeom>
            <a:avLst/>
            <a:gdLst/>
            <a:ahLst/>
            <a:cxnLst/>
            <a:rect l="l" t="t" r="r" b="b"/>
            <a:pathLst>
              <a:path w="9753600" h="163829" extrusionOk="0">
                <a:moveTo>
                  <a:pt x="9753218" y="163584"/>
                </a:moveTo>
                <a:lnTo>
                  <a:pt x="0" y="163584"/>
                </a:lnTo>
                <a:lnTo>
                  <a:pt x="0" y="0"/>
                </a:lnTo>
                <a:lnTo>
                  <a:pt x="9753218" y="0"/>
                </a:lnTo>
                <a:lnTo>
                  <a:pt x="9753218" y="16358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8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"/>
          <p:cNvSpPr/>
          <p:nvPr/>
        </p:nvSpPr>
        <p:spPr>
          <a:xfrm>
            <a:off x="6556416" y="0"/>
            <a:ext cx="3197860" cy="894080"/>
          </a:xfrm>
          <a:custGeom>
            <a:avLst/>
            <a:gdLst/>
            <a:ahLst/>
            <a:cxnLst/>
            <a:rect l="l" t="t" r="r" b="b"/>
            <a:pathLst>
              <a:path w="3197859" h="894080" extrusionOk="0">
                <a:moveTo>
                  <a:pt x="3197297" y="893567"/>
                </a:moveTo>
                <a:lnTo>
                  <a:pt x="0" y="893567"/>
                </a:lnTo>
                <a:lnTo>
                  <a:pt x="0" y="0"/>
                </a:lnTo>
                <a:lnTo>
                  <a:pt x="3197297" y="0"/>
                </a:lnTo>
                <a:lnTo>
                  <a:pt x="3197297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8"/>
          <p:cNvSpPr/>
          <p:nvPr/>
        </p:nvSpPr>
        <p:spPr>
          <a:xfrm>
            <a:off x="6963071" y="203136"/>
            <a:ext cx="2213610" cy="731520"/>
          </a:xfrm>
          <a:custGeom>
            <a:avLst/>
            <a:gdLst/>
            <a:ahLst/>
            <a:cxnLst/>
            <a:rect l="l" t="t" r="r" b="b"/>
            <a:pathLst>
              <a:path w="2213609" h="731519" extrusionOk="0">
                <a:moveTo>
                  <a:pt x="2213399" y="731135"/>
                </a:moveTo>
                <a:lnTo>
                  <a:pt x="0" y="731135"/>
                </a:lnTo>
                <a:lnTo>
                  <a:pt x="0" y="0"/>
                </a:lnTo>
                <a:lnTo>
                  <a:pt x="2213399" y="0"/>
                </a:lnTo>
                <a:lnTo>
                  <a:pt x="2213399" y="7311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5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267855" y="1152575"/>
            <a:ext cx="9033300" cy="3887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comparative study of </a:t>
            </a:r>
            <a:r>
              <a:rPr lang="en-US" sz="3600" dirty="0" err="1">
                <a:latin typeface="Times New Roman"/>
                <a:ea typeface="Times New Roman"/>
                <a:cs typeface="Times New Roman"/>
                <a:sym typeface="Times New Roman"/>
              </a:rPr>
              <a:t>Manual,Testing</a:t>
            </a:r>
            <a: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Automation Testing in Software </a:t>
            </a:r>
            <a:r>
              <a:rPr lang="en-US" sz="36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</a:t>
            </a:r>
            <a:r>
              <a:rPr lang="en-US" sz="3600" dirty="0" err="1">
                <a:latin typeface="Times New Roman"/>
                <a:ea typeface="Times New Roman"/>
                <a:cs typeface="Times New Roman"/>
                <a:sym typeface="Times New Roman"/>
              </a:rPr>
              <a:t>Assurance</a:t>
            </a:r>
            <a:r>
              <a:rPr lang="en-US" sz="3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973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973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973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973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973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973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4945" marR="2727325" lvl="0" indent="0" algn="ctr" rtl="0">
              <a:lnSpc>
                <a:spcPct val="1012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 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4945" marR="2727325" lvl="0" indent="0" algn="ctr" rtl="0">
              <a:lnSpc>
                <a:spcPct val="1012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Gurp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reet Singh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324927" y="5542364"/>
            <a:ext cx="7103745" cy="959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631950" marR="5080" lvl="0" indent="-1619885" algn="ctr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Chitkara University, Punjab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267855" y="3195955"/>
            <a:ext cx="9305753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Prince Kumar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Singh  (22109920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91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                                  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FEA338-11A3-B883-4C2E-944AD8F05D44}"/>
              </a:ext>
            </a:extLst>
          </p:cNvPr>
          <p:cNvSpPr txBox="1"/>
          <p:nvPr/>
        </p:nvSpPr>
        <p:spPr>
          <a:xfrm>
            <a:off x="210207" y="367862"/>
            <a:ext cx="7104993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providing a comparative study of Manual Testing and Automation Testing in Software Quality Assurance to improve software reliability.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testing methodologies, including Manual Testing and Automation Testing tools such as Selenium and JUnit, are used for analysis and comparison.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analyzes and compares Manual Testing and Automation Testing techniques to evaluate software quality, efficiency, accuracy, and overall testing performance.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testing approaches are compared to identify the most effective method for improving software quality, speed, reliability, and overall testing efficiency.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high accuracy and practical applications in real life. </a:t>
            </a:r>
          </a:p>
        </p:txBody>
      </p:sp>
    </p:spTree>
    <p:extLst>
      <p:ext uri="{BB962C8B-B14F-4D97-AF65-F5344CB8AC3E}">
        <p14:creationId xmlns:p14="http://schemas.microsoft.com/office/powerpoint/2010/main" val="286131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>
            <a:spLocks noGrp="1"/>
          </p:cNvSpPr>
          <p:nvPr>
            <p:ph type="title"/>
          </p:nvPr>
        </p:nvSpPr>
        <p:spPr>
          <a:xfrm>
            <a:off x="-387625" y="109377"/>
            <a:ext cx="5889474" cy="44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Introduction</a:t>
            </a:r>
            <a:endParaRPr/>
          </a:p>
        </p:txBody>
      </p:sp>
      <p:sp>
        <p:nvSpPr>
          <p:cNvPr id="60" name="Google Shape;60;p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189186" y="891228"/>
            <a:ext cx="8502869" cy="4555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indent="-11430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Testing and Automation Testing are compared to analyze their advantages, limitations, performance, cost-effectiveness, and impact on Software Quality Assurance. </a:t>
            </a:r>
            <a:b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dirty="0"/>
          </a:p>
          <a:p>
            <a:pPr lvl="0" indent="-11430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Quality Assurance (SQA) is a process used to ensure that software applications  meet required quality standards through different testing approaches such as   Manual  Testing and Automation Testing.</a:t>
            </a:r>
            <a:b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dirty="0"/>
          </a:p>
          <a:p>
            <a:pPr lvl="0" indent="-11430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tools and methodologies such as Selenium, JUnit, and Manual Testing techniques are used to evaluate software performance, functionality, and reliability. </a:t>
            </a:r>
            <a:b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machine learning, we can train systems to automatically recognize these activities.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dirty="0"/>
          </a:p>
          <a:p>
            <a:pPr lvl="0" indent="-11430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study is widely useful in software development industries for improving application quality, reducing testing time, increasing reliability, and enhancing overall software performance.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5C97-2C5D-68B2-511C-912424C5E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995" y="122440"/>
            <a:ext cx="5632477" cy="1046440"/>
          </a:xfrm>
        </p:spPr>
        <p:txBody>
          <a:bodyPr/>
          <a:lstStyle/>
          <a:p>
            <a:r>
              <a:rPr lang="en-IN" dirty="0"/>
              <a:t>Tools and Technology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6ACE52-B611-540B-178C-48A86E2412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8995" y="966599"/>
            <a:ext cx="650738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,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Java,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Libraries: Selenium, Postman, Manual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Platform: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Github,vs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Notebook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Approaches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Manual Testing, Automation Testing</a:t>
            </a:r>
          </a:p>
        </p:txBody>
      </p:sp>
    </p:spTree>
    <p:extLst>
      <p:ext uri="{BB962C8B-B14F-4D97-AF65-F5344CB8AC3E}">
        <p14:creationId xmlns:p14="http://schemas.microsoft.com/office/powerpoint/2010/main" val="3080091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30B8-48A2-364C-EA8C-3A288C0FE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513" y="109377"/>
            <a:ext cx="3569335" cy="523220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C2B30A-66C8-99FE-B8BF-87F8A213A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8995" y="667327"/>
            <a:ext cx="689926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Conducted detailed research on Manual Testing and Automation Testing.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Analyzed different software testing methodologies and 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Compared testing approaches based on speed, accuracy, cost, and reliability.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Studied the advantages and limitations of both testing techniques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Generated graphs for visualization. </a:t>
            </a:r>
          </a:p>
        </p:txBody>
      </p:sp>
    </p:spTree>
    <p:extLst>
      <p:ext uri="{BB962C8B-B14F-4D97-AF65-F5344CB8AC3E}">
        <p14:creationId xmlns:p14="http://schemas.microsoft.com/office/powerpoint/2010/main" val="4024445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129209" y="109377"/>
            <a:ext cx="537264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Objective</a:t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 flipH="1">
            <a:off x="278295" y="2071089"/>
            <a:ext cx="7414592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129209" y="943096"/>
            <a:ext cx="9214488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11430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goal of this project is to compare Manual Testing and Automation Testing techniques to improve software quality, efficiency, reliability, and overall Software Quality Assurance processes.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11430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aim to analyze and compare different testing techniques and tools to identify the most effective approach for ensuring high-quality and reliable software applications.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objective is to compare different models and find out which one performs best.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Ultimately, we want a system that is reliable, efficient, and easy to use.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>
            <a:spLocks noGrp="1"/>
          </p:cNvSpPr>
          <p:nvPr>
            <p:ph type="title"/>
          </p:nvPr>
        </p:nvSpPr>
        <p:spPr>
          <a:xfrm>
            <a:off x="69573" y="-10601"/>
            <a:ext cx="5361155" cy="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Problem Statement</a:t>
            </a:r>
            <a:endParaRPr sz="3600"/>
          </a:p>
        </p:txBody>
      </p:sp>
      <p:sp>
        <p:nvSpPr>
          <p:cNvPr id="74" name="Google Shape;74;p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-1" y="1561377"/>
            <a:ext cx="9532883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Observing and recording human activities manually is time-consuming and not always accurate.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collected from sensors can be complex and noisy.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the challenge is to create a system that can: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detect activities</a:t>
            </a:r>
            <a:endParaRPr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efficiently in real-time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high accuracy without human effort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6336735" cy="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Methodology</a:t>
            </a:r>
            <a:endParaRPr/>
          </a:p>
        </p:txBody>
      </p:sp>
      <p:sp>
        <p:nvSpPr>
          <p:cNvPr id="81" name="Google Shape;81;p4"/>
          <p:cNvSpPr txBox="1"/>
          <p:nvPr/>
        </p:nvSpPr>
        <p:spPr>
          <a:xfrm>
            <a:off x="232155" y="1353176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indent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4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97721" y="524271"/>
            <a:ext cx="9089645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11430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we studied different Software Testing methodologies, including Manual Testing and Automation Testing, along with popular testing tools and techniques used in Software Quality Assurance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Then, we clean and process this data to remove noise and make it usable.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that, we extract important features such as average values and variations in movement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lvl="0" indent="-11430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Next, we analyzed various testing tools and frameworks such as Selenium, JUnit, and Postman to understand their role in improving software testing efficiency and reliability.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Finally, we compared manual testing on factors such as accuracy ,speed ,software reliability  and evaluate their performance 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6336735" cy="52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 dirty="0"/>
              <a:t>Choosing the Right Testing Strategy</a:t>
            </a:r>
            <a:endParaRPr sz="2400" b="1" dirty="0"/>
          </a:p>
        </p:txBody>
      </p:sp>
      <p:sp>
        <p:nvSpPr>
          <p:cNvPr id="89" name="Google Shape;89;p15"/>
          <p:cNvSpPr txBox="1"/>
          <p:nvPr/>
        </p:nvSpPr>
        <p:spPr>
          <a:xfrm>
            <a:off x="232155" y="1353176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indent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754545" y="1604556"/>
            <a:ext cx="802953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41FC6C-DE42-23CC-B67D-7DF4EA7F9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2106"/>
            <a:ext cx="9753600" cy="49309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7328284" cy="52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 dirty="0"/>
              <a:t>Testing comparison</a:t>
            </a:r>
            <a:endParaRPr sz="2400" b="1" dirty="0"/>
          </a:p>
        </p:txBody>
      </p:sp>
      <p:sp>
        <p:nvSpPr>
          <p:cNvPr id="97" name="Google Shape;97;p16"/>
          <p:cNvSpPr txBox="1"/>
          <p:nvPr/>
        </p:nvSpPr>
        <p:spPr>
          <a:xfrm>
            <a:off x="232155" y="1353176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indent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754545" y="1604556"/>
            <a:ext cx="802953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75126A-6293-05E6-E7F8-A28A898CE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15" y="915509"/>
            <a:ext cx="8177048" cy="56324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9ac019662_0_1"/>
          <p:cNvSpPr txBox="1">
            <a:spLocks noGrp="1"/>
          </p:cNvSpPr>
          <p:nvPr>
            <p:ph type="title"/>
          </p:nvPr>
        </p:nvSpPr>
        <p:spPr>
          <a:xfrm>
            <a:off x="99392" y="181802"/>
            <a:ext cx="6156996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 &amp; Discussion</a:t>
            </a:r>
            <a:endParaRPr/>
          </a:p>
        </p:txBody>
      </p:sp>
      <p:sp>
        <p:nvSpPr>
          <p:cNvPr id="106" name="Google Shape;106;g319ac019662_0_1"/>
          <p:cNvSpPr txBox="1">
            <a:spLocks noGrp="1"/>
          </p:cNvSpPr>
          <p:nvPr>
            <p:ph type="body" idx="1"/>
          </p:nvPr>
        </p:nvSpPr>
        <p:spPr>
          <a:xfrm flipH="1">
            <a:off x="9605818" y="7269481"/>
            <a:ext cx="1098332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 sz="12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19ac019662_0_1"/>
          <p:cNvSpPr/>
          <p:nvPr/>
        </p:nvSpPr>
        <p:spPr>
          <a:xfrm>
            <a:off x="99392" y="1078618"/>
            <a:ext cx="97536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models were tested, and we achieved high accuracy (around 90–95%, depending on the model). 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Testing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performed the best in most cases.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multiple sensors together improved the results.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certain testing scenarios still require manual intervention as automation testing may not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handle usability exploratory and 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experience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testing. 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4E4ED-89B0-326B-4AF6-DCF240B3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83" y="109377"/>
            <a:ext cx="6936377" cy="1046440"/>
          </a:xfrm>
        </p:spPr>
        <p:txBody>
          <a:bodyPr/>
          <a:lstStyle/>
          <a:p>
            <a:r>
              <a:rPr lang="en-IN" dirty="0"/>
              <a:t>Conclusion and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272E9-914C-00C7-BFB4-62D023933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995" y="1289312"/>
            <a:ext cx="8952230" cy="3231654"/>
          </a:xfrm>
        </p:spPr>
        <p:txBody>
          <a:bodyPr/>
          <a:lstStyle/>
          <a:p>
            <a:r>
              <a:rPr lang="en-US" dirty="0"/>
              <a:t>Manual and automation testing improve  software quality  and reliability. </a:t>
            </a:r>
          </a:p>
          <a:p>
            <a:r>
              <a:rPr lang="en-US" dirty="0"/>
              <a:t>Automation testing  helps detect bugs faster and increases testing efficiency.</a:t>
            </a:r>
          </a:p>
          <a:p>
            <a:r>
              <a:rPr lang="en-US" dirty="0"/>
              <a:t>A mix of manual and automation provides the best software testing result.</a:t>
            </a:r>
          </a:p>
          <a:p>
            <a:endParaRPr lang="en-US" dirty="0"/>
          </a:p>
          <a:p>
            <a:r>
              <a:rPr lang="en-US" b="1" dirty="0"/>
              <a:t>Future Scope:</a:t>
            </a:r>
          </a:p>
          <a:p>
            <a:endParaRPr lang="en-US" dirty="0"/>
          </a:p>
          <a:p>
            <a:r>
              <a:rPr lang="en-US" dirty="0"/>
              <a:t>Use advanced automation testing tools and to improve software quality</a:t>
            </a:r>
          </a:p>
          <a:p>
            <a:r>
              <a:rPr lang="en-US" dirty="0"/>
              <a:t>Develop real-time testing mobile applications </a:t>
            </a:r>
          </a:p>
          <a:p>
            <a:r>
              <a:rPr lang="en-US" dirty="0"/>
              <a:t>Improve software </a:t>
            </a:r>
            <a:r>
              <a:rPr lang="en-US" dirty="0" err="1"/>
              <a:t>reliabilty</a:t>
            </a:r>
            <a:r>
              <a:rPr lang="en-US" dirty="0"/>
              <a:t> through smarter testing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168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417443" y="109377"/>
            <a:ext cx="508440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128445" y="1152630"/>
            <a:ext cx="9231455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This project shows that smartphones can effectively recognize human activities.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Automation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testing  plays a key role in making this possible.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Manual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automation testing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both essential for software testing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In the future, we can improve this system using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advanced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learning techniques and real-time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testing solutions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B12A0-DDD7-0A27-FA89-DA4ACA20D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195" y="109376"/>
            <a:ext cx="8804366" cy="3477875"/>
          </a:xfrm>
        </p:spPr>
        <p:txBody>
          <a:bodyPr/>
          <a:lstStyle/>
          <a:p>
            <a:r>
              <a:rPr lang="en-US" b="1" dirty="0"/>
              <a:t>References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sz="1800" b="1" dirty="0"/>
            </a:br>
            <a:r>
              <a:rPr lang="en-US" sz="1800" dirty="0"/>
              <a:t>Research papers on MANUAL AND AUTOMATION Testing Activity Recognition </a:t>
            </a:r>
            <a:br>
              <a:rPr lang="en-US" sz="1800" dirty="0"/>
            </a:br>
            <a:r>
              <a:rPr lang="en-US" sz="1800" dirty="0"/>
              <a:t>UCI HAR Dataset </a:t>
            </a:r>
            <a:br>
              <a:rPr lang="en-US" sz="1800" dirty="0"/>
            </a:br>
            <a:r>
              <a:rPr lang="en-US" sz="1800" dirty="0"/>
              <a:t>Scikit-learn Documentation </a:t>
            </a:r>
            <a:br>
              <a:rPr lang="en-US" sz="1800" dirty="0"/>
            </a:br>
            <a:r>
              <a:rPr lang="en-US" sz="1800" dirty="0"/>
              <a:t>Online tutorials and study materials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442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06287-1DBC-6A87-1835-8695D48BA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513" y="109377"/>
            <a:ext cx="3569335" cy="523220"/>
          </a:xfrm>
        </p:spPr>
        <p:txBody>
          <a:bodyPr/>
          <a:lstStyle/>
          <a:p>
            <a:r>
              <a:rPr lang="en-IN" dirty="0"/>
              <a:t>Appendices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644183-5A73-3C62-1D52-1175EBBB99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8995" y="1224002"/>
            <a:ext cx="640287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Sample dataset details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Additional graphs and charts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 (if required) </a:t>
            </a:r>
          </a:p>
        </p:txBody>
      </p:sp>
    </p:spTree>
    <p:extLst>
      <p:ext uri="{BB962C8B-B14F-4D97-AF65-F5344CB8AC3E}">
        <p14:creationId xmlns:p14="http://schemas.microsoft.com/office/powerpoint/2010/main" val="2259342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>
            <a:spLocks noGrp="1"/>
          </p:cNvSpPr>
          <p:nvPr>
            <p:ph type="title"/>
          </p:nvPr>
        </p:nvSpPr>
        <p:spPr>
          <a:xfrm>
            <a:off x="3137882" y="2901732"/>
            <a:ext cx="3644900" cy="355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750"/>
              <a:t>Thank You</a:t>
            </a:r>
            <a:br>
              <a:rPr lang="en-US" sz="5750"/>
            </a:br>
            <a:br>
              <a:rPr lang="en-US" sz="5750"/>
            </a:br>
            <a:br>
              <a:rPr lang="en-US" sz="5750"/>
            </a:br>
            <a:endParaRPr sz="5750"/>
          </a:p>
        </p:txBody>
      </p:sp>
      <p:sp>
        <p:nvSpPr>
          <p:cNvPr id="119" name="Google Shape;119;p7"/>
          <p:cNvSpPr txBox="1"/>
          <p:nvPr/>
        </p:nvSpPr>
        <p:spPr>
          <a:xfrm>
            <a:off x="9074494" y="6801811"/>
            <a:ext cx="112395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2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2477</TotalTime>
  <Words>860</Words>
  <Application>Microsoft Office PowerPoint</Application>
  <PresentationFormat>Custom</PresentationFormat>
  <Paragraphs>134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Trebuchet MS</vt:lpstr>
      <vt:lpstr>Office Theme</vt:lpstr>
      <vt:lpstr>PowerPoint Presentation</vt:lpstr>
      <vt:lpstr>PowerPoint Presentation</vt:lpstr>
      <vt:lpstr>Introduction</vt:lpstr>
      <vt:lpstr>Tools and Technology</vt:lpstr>
      <vt:lpstr>Implementation</vt:lpstr>
      <vt:lpstr>Objective</vt:lpstr>
      <vt:lpstr>Problem Statement</vt:lpstr>
      <vt:lpstr>Methodology</vt:lpstr>
      <vt:lpstr>Choosing the Right Testing Strategy</vt:lpstr>
      <vt:lpstr>Testing comparison</vt:lpstr>
      <vt:lpstr>Results &amp; Discussion</vt:lpstr>
      <vt:lpstr>Conclusion and Future scope</vt:lpstr>
      <vt:lpstr>Conclusion</vt:lpstr>
      <vt:lpstr>References    Research papers on MANUAL AND AUTOMATION Testing Activity Recognition  UCI HAR Dataset  Scikit-learn Documentation  Online tutorials and study materials </vt:lpstr>
      <vt:lpstr>Appendices</vt:lpstr>
      <vt:lpstr>Thank You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nakul JAIN</dc:creator>
  <cp:lastModifiedBy>Prince singh</cp:lastModifiedBy>
  <cp:revision>3</cp:revision>
  <dcterms:created xsi:type="dcterms:W3CDTF">2026-03-24T19:17:42Z</dcterms:created>
  <dcterms:modified xsi:type="dcterms:W3CDTF">2026-05-10T11:27:26Z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2024-08-03T00:00:00Z</vt:filetime>
  </property>
  <property fmtid="{D5CDD505-2E9C-101B-9397-08002B2CF9AE}" pid="3" name="Creator">
    <vt:lpwstr>Canva</vt:lpwstr>
  </property>
  <property fmtid="{D5CDD505-2E9C-101B-9397-08002B2CF9AE}" pid="4" name="LastSaved">
    <vt:filetime>2024-10-02T00:00:00Z</vt:filetime>
  </property>
  <property fmtid="{D5CDD505-2E9C-101B-9397-08002B2CF9AE}" pid="5" name="Producer">
    <vt:lpwstr>Canva</vt:lpwstr>
  </property>
</Properties>
</file>